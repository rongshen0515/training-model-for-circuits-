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-2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95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png"/><Relationship Id="rId3" Type="http://schemas.openxmlformats.org/officeDocument/2006/relationships/hyperlink" Target="https://www.kaggle.com/datasets/ayush02102001/circuit-component-analysis?resource=download" TargetMode="External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8.png"/><Relationship Id="rId5" Type="http://schemas.openxmlformats.org/officeDocument/2006/relationships/image" Target="../media/image2.jpe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7132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MNIST for Analog Circuits: Component Symbol Recognition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42082" y="932688"/>
            <a:ext cx="2743200" cy="5440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46120" y="932688"/>
            <a:ext cx="4069080" cy="544068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52360" y="914400"/>
            <a:ext cx="4370832" cy="5440680"/>
          </a:xfrm>
          <a:prstGeom prst="roundRect">
            <a:avLst>
              <a:gd name="adj" fmla="val 3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</a:rPr>
              <a:t>Experiment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</a:rPr>
              <a:t>Goal: learn the full pipeline for the “circuit alphabet”: crop symbols, train a baseline, then inspect model mistakes.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493776" y="2670048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Resistor</a:t>
            </a:r>
            <a:endParaRPr lang="en-US" sz="760" dirty="0"/>
          </a:p>
        </p:txBody>
      </p:sp>
      <p:sp>
        <p:nvSpPr>
          <p:cNvPr id="13" name="Text 9"/>
          <p:cNvSpPr/>
          <p:nvPr/>
        </p:nvSpPr>
        <p:spPr>
          <a:xfrm>
            <a:off x="1353312" y="2670048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Capacitor</a:t>
            </a:r>
            <a:endParaRPr lang="en-US" sz="760" dirty="0"/>
          </a:p>
        </p:txBody>
      </p:sp>
      <p:sp>
        <p:nvSpPr>
          <p:cNvPr id="15" name="Text 10"/>
          <p:cNvSpPr/>
          <p:nvPr/>
        </p:nvSpPr>
        <p:spPr>
          <a:xfrm>
            <a:off x="2212848" y="2670048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Inductor</a:t>
            </a:r>
            <a:endParaRPr lang="en-US" sz="760" dirty="0"/>
          </a:p>
        </p:txBody>
      </p:sp>
      <p:sp>
        <p:nvSpPr>
          <p:cNvPr id="17" name="Text 11"/>
          <p:cNvSpPr/>
          <p:nvPr/>
        </p:nvSpPr>
        <p:spPr>
          <a:xfrm>
            <a:off x="493776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Diode</a:t>
            </a:r>
            <a:endParaRPr lang="en-US" sz="760" dirty="0"/>
          </a:p>
        </p:txBody>
      </p:sp>
      <p:sp>
        <p:nvSpPr>
          <p:cNvPr id="19" name="Text 12"/>
          <p:cNvSpPr/>
          <p:nvPr/>
        </p:nvSpPr>
        <p:spPr>
          <a:xfrm>
            <a:off x="1353312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PNP Transistor</a:t>
            </a:r>
            <a:endParaRPr lang="en-US" sz="760" dirty="0"/>
          </a:p>
        </p:txBody>
      </p:sp>
      <p:sp>
        <p:nvSpPr>
          <p:cNvPr id="21" name="Text 13"/>
          <p:cNvSpPr/>
          <p:nvPr/>
        </p:nvSpPr>
        <p:spPr>
          <a:xfrm>
            <a:off x="2212848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67085"/>
                </a:solidFill>
              </a:rPr>
              <a:t>NPN Transistor</a:t>
            </a:r>
            <a:endParaRPr lang="en-US" sz="760" dirty="0"/>
          </a:p>
        </p:txBody>
      </p:sp>
      <p:sp>
        <p:nvSpPr>
          <p:cNvPr id="22" name="Text 14"/>
          <p:cNvSpPr/>
          <p:nvPr/>
        </p:nvSpPr>
        <p:spPr>
          <a:xfrm>
            <a:off x="502920" y="4206240"/>
            <a:ext cx="2423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0233F"/>
                </a:solidFill>
              </a:rPr>
              <a:t>Dataset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02920" y="4462272"/>
            <a:ext cx="2359152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JUHCCR-v1a from Kaggle</a:t>
            </a:r>
            <a:br>
              <a:rPr lang="en-US" sz="920" dirty="0">
                <a:solidFill>
                  <a:srgbClr val="111827"/>
                </a:solidFill>
              </a:rPr>
            </a:br>
            <a:r>
              <a:rPr lang="en-US" sz="920" dirty="0">
                <a:solidFill>
                  <a:srgbClr val="111827"/>
                </a:solidFill>
              </a:rPr>
              <a:t>Test folder: File 04, 07, 11, 13, 14, 16 </a:t>
            </a:r>
            <a:endParaRPr lang="en-US" sz="920" dirty="0"/>
          </a:p>
        </p:txBody>
      </p:sp>
      <p:sp>
        <p:nvSpPr>
          <p:cNvPr id="24" name="Text 16"/>
          <p:cNvSpPr/>
          <p:nvPr/>
        </p:nvSpPr>
        <p:spPr>
          <a:xfrm>
            <a:off x="502920" y="4892040"/>
            <a:ext cx="235915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521208" y="4974336"/>
            <a:ext cx="2359152" cy="11664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830" i="1" dirty="0">
                <a:solidFill>
                  <a:srgbClr val="2B67D1"/>
                </a:solidFill>
              </a:rPr>
              <a:t>Notebook link: </a:t>
            </a:r>
            <a:r>
              <a:rPr lang="en-US" sz="830" i="1" dirty="0">
                <a:solidFill>
                  <a:srgbClr val="2B67D1"/>
                </a:solidFill>
                <a:hlinkClick r:id="rId3"/>
              </a:rPr>
              <a:t>https://www.kaggle.com/datasets/ayush02102001/circuit-component-analysis?resource=download</a:t>
            </a:r>
            <a:endParaRPr lang="en-US" sz="830" i="1" dirty="0">
              <a:solidFill>
                <a:srgbClr val="2B67D1"/>
              </a:solidFill>
            </a:endParaRPr>
          </a:p>
          <a:p>
            <a:endParaRPr lang="en-US" sz="830" i="1" dirty="0">
              <a:solidFill>
                <a:srgbClr val="2B67D1"/>
              </a:solidFill>
            </a:endParaRPr>
          </a:p>
          <a:p>
            <a:r>
              <a:rPr lang="en-US" sz="830" i="1" dirty="0">
                <a:solidFill>
                  <a:srgbClr val="2B67D1"/>
                </a:solidFill>
              </a:rPr>
              <a:t>GitHub link: </a:t>
            </a:r>
          </a:p>
          <a:p>
            <a:r>
              <a:rPr lang="en-US" sz="830" i="1" dirty="0">
                <a:solidFill>
                  <a:srgbClr val="2B67D1"/>
                </a:solidFill>
              </a:rPr>
              <a:t>https://github.com/rongshen0515/Training-Model-for-Circuits-</a:t>
            </a:r>
            <a:endParaRPr lang="en-US" sz="830" dirty="0"/>
          </a:p>
        </p:txBody>
      </p:sp>
      <p:sp>
        <p:nvSpPr>
          <p:cNvPr id="27" name="Text 19"/>
          <p:cNvSpPr/>
          <p:nvPr/>
        </p:nvSpPr>
        <p:spPr>
          <a:xfrm>
            <a:off x="3456432" y="1060704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</a:rPr>
              <a:t>Baseline model + evaluation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456432" y="1371600"/>
            <a:ext cx="3611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Model: small CNN, 64×64 grayscale input, 3 convolution blocks, ReLU, max-pooling, dropout, final softmax. Loss: cross-entropy.</a:t>
            </a:r>
            <a:endParaRPr lang="en-US" sz="920" dirty="0"/>
          </a:p>
        </p:txBody>
      </p:sp>
      <p:sp>
        <p:nvSpPr>
          <p:cNvPr id="29" name="Text 21"/>
          <p:cNvSpPr/>
          <p:nvPr/>
        </p:nvSpPr>
        <p:spPr>
          <a:xfrm>
            <a:off x="345643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</a:rPr>
              <a:t>Test accuracy: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3822192" y="2359152"/>
            <a:ext cx="2697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Confusion matrix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657600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3657600" y="2788920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014216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657600" y="3145536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370832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657600" y="3502152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4727448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3657600" y="3858768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5084064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3657600" y="4215384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5440680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3657600" y="4572000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5797296" y="2788920"/>
            <a:ext cx="0" cy="2139696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657600" y="4928616"/>
            <a:ext cx="2139696" cy="0"/>
          </a:xfrm>
          <a:prstGeom prst="line">
            <a:avLst/>
          </a:prstGeom>
          <a:noFill/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3666744" y="2798064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3758184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4023360" y="2798064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4114800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0" name="Shape 42"/>
          <p:cNvSpPr/>
          <p:nvPr/>
        </p:nvSpPr>
        <p:spPr>
          <a:xfrm>
            <a:off x="4379976" y="279806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3"/>
          <p:cNvSpPr/>
          <p:nvPr/>
        </p:nvSpPr>
        <p:spPr>
          <a:xfrm>
            <a:off x="4471416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2" name="Shape 44"/>
          <p:cNvSpPr/>
          <p:nvPr/>
        </p:nvSpPr>
        <p:spPr>
          <a:xfrm>
            <a:off x="4736592" y="279806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4828032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4" name="Shape 46"/>
          <p:cNvSpPr/>
          <p:nvPr/>
        </p:nvSpPr>
        <p:spPr>
          <a:xfrm>
            <a:off x="5093208" y="279806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5184648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6" name="Shape 48"/>
          <p:cNvSpPr/>
          <p:nvPr/>
        </p:nvSpPr>
        <p:spPr>
          <a:xfrm>
            <a:off x="5449824" y="279806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5541264" y="287121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8" name="Shape 50"/>
          <p:cNvSpPr/>
          <p:nvPr/>
        </p:nvSpPr>
        <p:spPr>
          <a:xfrm>
            <a:off x="3666744" y="3154680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1"/>
          <p:cNvSpPr/>
          <p:nvPr/>
        </p:nvSpPr>
        <p:spPr>
          <a:xfrm>
            <a:off x="3758184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0" name="Shape 52"/>
          <p:cNvSpPr/>
          <p:nvPr/>
        </p:nvSpPr>
        <p:spPr>
          <a:xfrm>
            <a:off x="4023360" y="3154680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/>
          <p:cNvSpPr/>
          <p:nvPr/>
        </p:nvSpPr>
        <p:spPr>
          <a:xfrm>
            <a:off x="4114800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62" name="Shape 54"/>
          <p:cNvSpPr/>
          <p:nvPr/>
        </p:nvSpPr>
        <p:spPr>
          <a:xfrm>
            <a:off x="4379976" y="3154680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5"/>
          <p:cNvSpPr/>
          <p:nvPr/>
        </p:nvSpPr>
        <p:spPr>
          <a:xfrm>
            <a:off x="4471416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4" name="Shape 56"/>
          <p:cNvSpPr/>
          <p:nvPr/>
        </p:nvSpPr>
        <p:spPr>
          <a:xfrm>
            <a:off x="4736592" y="3154680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7"/>
          <p:cNvSpPr/>
          <p:nvPr/>
        </p:nvSpPr>
        <p:spPr>
          <a:xfrm>
            <a:off x="4828032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6" name="Shape 58"/>
          <p:cNvSpPr/>
          <p:nvPr/>
        </p:nvSpPr>
        <p:spPr>
          <a:xfrm>
            <a:off x="5093208" y="3154680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/>
          <p:nvPr/>
        </p:nvSpPr>
        <p:spPr>
          <a:xfrm>
            <a:off x="5184648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8" name="Shape 60"/>
          <p:cNvSpPr/>
          <p:nvPr/>
        </p:nvSpPr>
        <p:spPr>
          <a:xfrm>
            <a:off x="5449824" y="3154680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5541264" y="3227832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0" name="Shape 62"/>
          <p:cNvSpPr/>
          <p:nvPr/>
        </p:nvSpPr>
        <p:spPr>
          <a:xfrm>
            <a:off x="3666744" y="3511296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3758184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2" name="Shape 64"/>
          <p:cNvSpPr/>
          <p:nvPr/>
        </p:nvSpPr>
        <p:spPr>
          <a:xfrm>
            <a:off x="4023360" y="3511296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/>
          <p:nvPr/>
        </p:nvSpPr>
        <p:spPr>
          <a:xfrm>
            <a:off x="4114800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4" name="Shape 66"/>
          <p:cNvSpPr/>
          <p:nvPr/>
        </p:nvSpPr>
        <p:spPr>
          <a:xfrm>
            <a:off x="4379976" y="3511296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4471416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76" name="Shape 68"/>
          <p:cNvSpPr/>
          <p:nvPr/>
        </p:nvSpPr>
        <p:spPr>
          <a:xfrm>
            <a:off x="4736592" y="3511296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9"/>
          <p:cNvSpPr/>
          <p:nvPr/>
        </p:nvSpPr>
        <p:spPr>
          <a:xfrm>
            <a:off x="4828032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8" name="Shape 70"/>
          <p:cNvSpPr/>
          <p:nvPr/>
        </p:nvSpPr>
        <p:spPr>
          <a:xfrm>
            <a:off x="5093208" y="3511296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1"/>
          <p:cNvSpPr/>
          <p:nvPr/>
        </p:nvSpPr>
        <p:spPr>
          <a:xfrm>
            <a:off x="5184648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5449824" y="3511296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3"/>
          <p:cNvSpPr/>
          <p:nvPr/>
        </p:nvSpPr>
        <p:spPr>
          <a:xfrm>
            <a:off x="5541264" y="3584448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2" name="Shape 74"/>
          <p:cNvSpPr/>
          <p:nvPr/>
        </p:nvSpPr>
        <p:spPr>
          <a:xfrm>
            <a:off x="3666744" y="3867912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5"/>
          <p:cNvSpPr/>
          <p:nvPr/>
        </p:nvSpPr>
        <p:spPr>
          <a:xfrm>
            <a:off x="3758184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4" name="Shape 76"/>
          <p:cNvSpPr/>
          <p:nvPr/>
        </p:nvSpPr>
        <p:spPr>
          <a:xfrm>
            <a:off x="4023360" y="3867912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7"/>
          <p:cNvSpPr/>
          <p:nvPr/>
        </p:nvSpPr>
        <p:spPr>
          <a:xfrm>
            <a:off x="4114800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6" name="Shape 78"/>
          <p:cNvSpPr/>
          <p:nvPr/>
        </p:nvSpPr>
        <p:spPr>
          <a:xfrm>
            <a:off x="4379976" y="3867912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/>
          <p:nvPr/>
        </p:nvSpPr>
        <p:spPr>
          <a:xfrm>
            <a:off x="4471416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8" name="Shape 80"/>
          <p:cNvSpPr/>
          <p:nvPr/>
        </p:nvSpPr>
        <p:spPr>
          <a:xfrm>
            <a:off x="4736592" y="3867912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1"/>
          <p:cNvSpPr/>
          <p:nvPr/>
        </p:nvSpPr>
        <p:spPr>
          <a:xfrm>
            <a:off x="4828032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90" name="Shape 82"/>
          <p:cNvSpPr/>
          <p:nvPr/>
        </p:nvSpPr>
        <p:spPr>
          <a:xfrm>
            <a:off x="5093208" y="3867912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3"/>
          <p:cNvSpPr/>
          <p:nvPr/>
        </p:nvSpPr>
        <p:spPr>
          <a:xfrm>
            <a:off x="5184648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2" name="Shape 84"/>
          <p:cNvSpPr/>
          <p:nvPr/>
        </p:nvSpPr>
        <p:spPr>
          <a:xfrm>
            <a:off x="5449824" y="3867912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/>
          <p:nvPr/>
        </p:nvSpPr>
        <p:spPr>
          <a:xfrm>
            <a:off x="5541264" y="3941064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4" name="Shape 86"/>
          <p:cNvSpPr/>
          <p:nvPr/>
        </p:nvSpPr>
        <p:spPr>
          <a:xfrm>
            <a:off x="3666744" y="4224528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/>
          <p:nvPr/>
        </p:nvSpPr>
        <p:spPr>
          <a:xfrm>
            <a:off x="3758184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6" name="Shape 88"/>
          <p:cNvSpPr/>
          <p:nvPr/>
        </p:nvSpPr>
        <p:spPr>
          <a:xfrm>
            <a:off x="4023360" y="4224528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89"/>
          <p:cNvSpPr/>
          <p:nvPr/>
        </p:nvSpPr>
        <p:spPr>
          <a:xfrm>
            <a:off x="4114800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8" name="Shape 90"/>
          <p:cNvSpPr/>
          <p:nvPr/>
        </p:nvSpPr>
        <p:spPr>
          <a:xfrm>
            <a:off x="4379976" y="4224528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/>
          <p:nvPr/>
        </p:nvSpPr>
        <p:spPr>
          <a:xfrm>
            <a:off x="4471416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00" name="Shape 92"/>
          <p:cNvSpPr/>
          <p:nvPr/>
        </p:nvSpPr>
        <p:spPr>
          <a:xfrm>
            <a:off x="4736592" y="4224528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4828032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02" name="Shape 94"/>
          <p:cNvSpPr/>
          <p:nvPr/>
        </p:nvSpPr>
        <p:spPr>
          <a:xfrm>
            <a:off x="5093208" y="4224528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/>
          <p:nvPr/>
        </p:nvSpPr>
        <p:spPr>
          <a:xfrm>
            <a:off x="5184648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104" name="Shape 96"/>
          <p:cNvSpPr/>
          <p:nvPr/>
        </p:nvSpPr>
        <p:spPr>
          <a:xfrm>
            <a:off x="5449824" y="4224528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5541264" y="429768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06" name="Shape 98"/>
          <p:cNvSpPr/>
          <p:nvPr/>
        </p:nvSpPr>
        <p:spPr>
          <a:xfrm>
            <a:off x="3666744" y="458114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9"/>
          <p:cNvSpPr/>
          <p:nvPr/>
        </p:nvSpPr>
        <p:spPr>
          <a:xfrm>
            <a:off x="3758184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08" name="Shape 100"/>
          <p:cNvSpPr/>
          <p:nvPr/>
        </p:nvSpPr>
        <p:spPr>
          <a:xfrm>
            <a:off x="4023360" y="458114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1"/>
          <p:cNvSpPr/>
          <p:nvPr/>
        </p:nvSpPr>
        <p:spPr>
          <a:xfrm>
            <a:off x="4114800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0" name="Shape 102"/>
          <p:cNvSpPr/>
          <p:nvPr/>
        </p:nvSpPr>
        <p:spPr>
          <a:xfrm>
            <a:off x="4379976" y="458114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/>
          <p:nvPr/>
        </p:nvSpPr>
        <p:spPr>
          <a:xfrm>
            <a:off x="4471416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2" name="Shape 104"/>
          <p:cNvSpPr/>
          <p:nvPr/>
        </p:nvSpPr>
        <p:spPr>
          <a:xfrm>
            <a:off x="4736592" y="4581144"/>
            <a:ext cx="33832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05"/>
          <p:cNvSpPr/>
          <p:nvPr/>
        </p:nvSpPr>
        <p:spPr>
          <a:xfrm>
            <a:off x="4828032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4" name="Shape 106"/>
          <p:cNvSpPr/>
          <p:nvPr/>
        </p:nvSpPr>
        <p:spPr>
          <a:xfrm>
            <a:off x="5093208" y="4581144"/>
            <a:ext cx="338328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184648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6" name="Shape 108"/>
          <p:cNvSpPr/>
          <p:nvPr/>
        </p:nvSpPr>
        <p:spPr>
          <a:xfrm>
            <a:off x="5431536" y="4572000"/>
            <a:ext cx="338328" cy="3383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09"/>
          <p:cNvSpPr/>
          <p:nvPr/>
        </p:nvSpPr>
        <p:spPr>
          <a:xfrm>
            <a:off x="5541264" y="4654296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F766E"/>
                </a:solidFill>
              </a:rPr>
              <a:t>✓</a:t>
            </a:r>
            <a:endParaRPr lang="en-US" sz="700" dirty="0"/>
          </a:p>
        </p:txBody>
      </p:sp>
      <p:sp>
        <p:nvSpPr>
          <p:cNvPr id="118" name="Text 110"/>
          <p:cNvSpPr/>
          <p:nvPr/>
        </p:nvSpPr>
        <p:spPr>
          <a:xfrm>
            <a:off x="3703320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R</a:t>
            </a:r>
            <a:endParaRPr lang="en-US" sz="700" dirty="0"/>
          </a:p>
        </p:txBody>
      </p:sp>
      <p:sp>
        <p:nvSpPr>
          <p:cNvPr id="119" name="Text 111"/>
          <p:cNvSpPr/>
          <p:nvPr/>
        </p:nvSpPr>
        <p:spPr>
          <a:xfrm>
            <a:off x="3429000" y="2889504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R</a:t>
            </a:r>
            <a:endParaRPr lang="en-US" sz="700" dirty="0"/>
          </a:p>
        </p:txBody>
      </p:sp>
      <p:sp>
        <p:nvSpPr>
          <p:cNvPr id="120" name="Text 112"/>
          <p:cNvSpPr/>
          <p:nvPr/>
        </p:nvSpPr>
        <p:spPr>
          <a:xfrm>
            <a:off x="4059936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C</a:t>
            </a:r>
            <a:endParaRPr lang="en-US" sz="700" dirty="0"/>
          </a:p>
        </p:txBody>
      </p:sp>
      <p:sp>
        <p:nvSpPr>
          <p:cNvPr id="121" name="Text 113"/>
          <p:cNvSpPr/>
          <p:nvPr/>
        </p:nvSpPr>
        <p:spPr>
          <a:xfrm>
            <a:off x="3429000" y="3246120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C</a:t>
            </a:r>
            <a:endParaRPr lang="en-US" sz="700" dirty="0"/>
          </a:p>
        </p:txBody>
      </p:sp>
      <p:sp>
        <p:nvSpPr>
          <p:cNvPr id="122" name="Text 114"/>
          <p:cNvSpPr/>
          <p:nvPr/>
        </p:nvSpPr>
        <p:spPr>
          <a:xfrm>
            <a:off x="4416552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L</a:t>
            </a:r>
            <a:endParaRPr lang="en-US" sz="700" dirty="0"/>
          </a:p>
        </p:txBody>
      </p:sp>
      <p:sp>
        <p:nvSpPr>
          <p:cNvPr id="123" name="Text 115"/>
          <p:cNvSpPr/>
          <p:nvPr/>
        </p:nvSpPr>
        <p:spPr>
          <a:xfrm>
            <a:off x="3429000" y="3602736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L</a:t>
            </a:r>
            <a:endParaRPr lang="en-US" sz="700" dirty="0"/>
          </a:p>
        </p:txBody>
      </p:sp>
      <p:sp>
        <p:nvSpPr>
          <p:cNvPr id="124" name="Text 116"/>
          <p:cNvSpPr/>
          <p:nvPr/>
        </p:nvSpPr>
        <p:spPr>
          <a:xfrm>
            <a:off x="4773168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D</a:t>
            </a:r>
            <a:endParaRPr lang="en-US" sz="700" dirty="0"/>
          </a:p>
        </p:txBody>
      </p:sp>
      <p:sp>
        <p:nvSpPr>
          <p:cNvPr id="125" name="Text 117"/>
          <p:cNvSpPr/>
          <p:nvPr/>
        </p:nvSpPr>
        <p:spPr>
          <a:xfrm>
            <a:off x="3429000" y="3959352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D</a:t>
            </a:r>
            <a:endParaRPr lang="en-US" sz="700" dirty="0"/>
          </a:p>
        </p:txBody>
      </p:sp>
      <p:sp>
        <p:nvSpPr>
          <p:cNvPr id="126" name="Text 118"/>
          <p:cNvSpPr/>
          <p:nvPr/>
        </p:nvSpPr>
        <p:spPr>
          <a:xfrm>
            <a:off x="5129784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N</a:t>
            </a:r>
            <a:endParaRPr lang="en-US" sz="700" dirty="0"/>
          </a:p>
        </p:txBody>
      </p:sp>
      <p:sp>
        <p:nvSpPr>
          <p:cNvPr id="127" name="Text 119"/>
          <p:cNvSpPr/>
          <p:nvPr/>
        </p:nvSpPr>
        <p:spPr>
          <a:xfrm>
            <a:off x="3429000" y="4315968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N</a:t>
            </a:r>
            <a:endParaRPr lang="en-US" sz="700" dirty="0"/>
          </a:p>
        </p:txBody>
      </p:sp>
      <p:sp>
        <p:nvSpPr>
          <p:cNvPr id="128" name="Text 120"/>
          <p:cNvSpPr/>
          <p:nvPr/>
        </p:nvSpPr>
        <p:spPr>
          <a:xfrm>
            <a:off x="5486400" y="2578608"/>
            <a:ext cx="2286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P</a:t>
            </a:r>
            <a:endParaRPr lang="en-US" sz="700" dirty="0"/>
          </a:p>
        </p:txBody>
      </p:sp>
      <p:sp>
        <p:nvSpPr>
          <p:cNvPr id="129" name="Text 121"/>
          <p:cNvSpPr/>
          <p:nvPr/>
        </p:nvSpPr>
        <p:spPr>
          <a:xfrm>
            <a:off x="3429000" y="4672584"/>
            <a:ext cx="164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P</a:t>
            </a:r>
            <a:endParaRPr lang="en-US" sz="700" dirty="0"/>
          </a:p>
        </p:txBody>
      </p:sp>
      <p:sp>
        <p:nvSpPr>
          <p:cNvPr id="130" name="Text 122"/>
          <p:cNvSpPr/>
          <p:nvPr/>
        </p:nvSpPr>
        <p:spPr>
          <a:xfrm rot="16200000">
            <a:off x="2909434" y="3614929"/>
            <a:ext cx="914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</a:rPr>
              <a:t>True label</a:t>
            </a:r>
            <a:endParaRPr lang="en-US" sz="700" dirty="0"/>
          </a:p>
        </p:txBody>
      </p:sp>
      <p:sp>
        <p:nvSpPr>
          <p:cNvPr id="135" name="Text 127"/>
          <p:cNvSpPr/>
          <p:nvPr/>
        </p:nvSpPr>
        <p:spPr>
          <a:xfrm>
            <a:off x="7708392" y="1060704"/>
            <a:ext cx="3749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</a:rPr>
              <a:t>Failure analysis</a:t>
            </a:r>
            <a:endParaRPr lang="en-US" sz="1400" dirty="0"/>
          </a:p>
        </p:txBody>
      </p:sp>
      <p:sp>
        <p:nvSpPr>
          <p:cNvPr id="139" name="Text 130"/>
          <p:cNvSpPr/>
          <p:nvPr/>
        </p:nvSpPr>
        <p:spPr>
          <a:xfrm>
            <a:off x="7799832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70" dirty="0"/>
          </a:p>
        </p:txBody>
      </p:sp>
      <p:sp>
        <p:nvSpPr>
          <p:cNvPr id="142" name="Text 132"/>
          <p:cNvSpPr/>
          <p:nvPr/>
        </p:nvSpPr>
        <p:spPr>
          <a:xfrm>
            <a:off x="8741664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70" dirty="0"/>
          </a:p>
        </p:txBody>
      </p:sp>
      <p:sp>
        <p:nvSpPr>
          <p:cNvPr id="145" name="Text 134"/>
          <p:cNvSpPr/>
          <p:nvPr/>
        </p:nvSpPr>
        <p:spPr>
          <a:xfrm>
            <a:off x="9683496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70" dirty="0"/>
          </a:p>
        </p:txBody>
      </p:sp>
      <p:sp>
        <p:nvSpPr>
          <p:cNvPr id="148" name="Text 136"/>
          <p:cNvSpPr/>
          <p:nvPr/>
        </p:nvSpPr>
        <p:spPr>
          <a:xfrm>
            <a:off x="10625328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70" dirty="0"/>
          </a:p>
        </p:txBody>
      </p:sp>
      <p:sp>
        <p:nvSpPr>
          <p:cNvPr id="149" name="Text 137"/>
          <p:cNvSpPr/>
          <p:nvPr/>
        </p:nvSpPr>
        <p:spPr>
          <a:xfrm>
            <a:off x="7740396" y="4883951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33F"/>
                </a:solidFill>
              </a:rPr>
              <a:t>What was hard?</a:t>
            </a:r>
            <a:endParaRPr lang="en-US" sz="1040" dirty="0"/>
          </a:p>
        </p:txBody>
      </p:sp>
      <p:sp>
        <p:nvSpPr>
          <p:cNvPr id="150" name="Text 138"/>
          <p:cNvSpPr/>
          <p:nvPr/>
        </p:nvSpPr>
        <p:spPr>
          <a:xfrm>
            <a:off x="7772400" y="5085119"/>
            <a:ext cx="3794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Hand-drawn symbols vary a lot in stroke thickness, rotation, and cleanliness. MOSFET orientation and local details are especially important.</a:t>
            </a:r>
            <a:endParaRPr lang="en-US" sz="920" dirty="0"/>
          </a:p>
        </p:txBody>
      </p:sp>
      <p:sp>
        <p:nvSpPr>
          <p:cNvPr id="151" name="Text 139"/>
          <p:cNvSpPr/>
          <p:nvPr/>
        </p:nvSpPr>
        <p:spPr>
          <a:xfrm>
            <a:off x="7740396" y="5551229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33F"/>
                </a:solidFill>
              </a:rPr>
              <a:t>What improved performance?</a:t>
            </a:r>
            <a:endParaRPr lang="en-US" sz="1040" dirty="0"/>
          </a:p>
        </p:txBody>
      </p:sp>
      <p:sp>
        <p:nvSpPr>
          <p:cNvPr id="152" name="Text 140"/>
          <p:cNvSpPr/>
          <p:nvPr/>
        </p:nvSpPr>
        <p:spPr>
          <a:xfrm>
            <a:off x="7740396" y="5715000"/>
            <a:ext cx="3794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Basic cleanup + augmentation: small rotations, shifts, scaling, noise, and line-thickness changes. Stratified split avoids hiding class imbalance.</a:t>
            </a:r>
            <a:endParaRPr lang="en-US" sz="920" dirty="0"/>
          </a:p>
        </p:txBody>
      </p:sp>
      <p:sp>
        <p:nvSpPr>
          <p:cNvPr id="155" name="Shape 1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99A0C18C-AD93-AD2C-8793-445A2DD64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325" y="2231136"/>
            <a:ext cx="520743" cy="384048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A9B868D9-2405-A0D2-2642-65BA877F5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533" y="3200400"/>
            <a:ext cx="689516" cy="420624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41215395-3973-CE94-EACA-B65A832EB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51" y="3331032"/>
            <a:ext cx="560769" cy="273748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D6FA1252-589F-7BAA-C329-391AFF3358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571" y="3172968"/>
            <a:ext cx="842126" cy="47053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DC170165-8BF1-51A8-AD4E-95A6679E67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00" y="2310384"/>
            <a:ext cx="637312" cy="260223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72ACA86F-33F9-E0CB-C4C0-43F494D7D5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1246" y="2359152"/>
            <a:ext cx="482373" cy="2114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03E654-240B-C144-FC12-F6C1FE1350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7933" y="2113959"/>
            <a:ext cx="3773429" cy="21728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DD8CCF-8110-ABB2-8908-CA64578E6C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8263" y="3138269"/>
            <a:ext cx="1474237" cy="1474237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9B09944A-1967-85C7-5A6F-79C921D2AD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9283" y="1423237"/>
            <a:ext cx="1432917" cy="1432917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5720D4C4-AEEA-6978-500B-D2ED43C14F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2934" y="3262335"/>
            <a:ext cx="1410249" cy="1410249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B0860BA8-E462-2F4E-D4D0-6446E65855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1664" y="1485663"/>
            <a:ext cx="1373595" cy="137359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B8AF078C-E2D6-0A15-9E92-7D1A112F20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2347" y="2387756"/>
            <a:ext cx="1315564" cy="13155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870A8F1B-7984-1EF9-7C56-9174ED2F8D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4883" y="4279392"/>
            <a:ext cx="2063501" cy="2066542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87F69C98-56AC-3D4F-2C6E-05671C29EF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49240" y="4279392"/>
            <a:ext cx="1878037" cy="1980061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8F8EA0AD-A4E7-037E-5773-15BD848DD29C}"/>
              </a:ext>
            </a:extLst>
          </p:cNvPr>
          <p:cNvSpPr txBox="1"/>
          <p:nvPr/>
        </p:nvSpPr>
        <p:spPr>
          <a:xfrm>
            <a:off x="10156516" y="161020"/>
            <a:ext cx="264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By: Rong Shen 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213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for Analog Circuits</dc:title>
  <dc:subject>MNIST for analog circuits one slide deliverable</dc:subject>
  <dc:creator>OpenAI</dc:creator>
  <cp:lastModifiedBy>Ng, Rong</cp:lastModifiedBy>
  <cp:revision>3</cp:revision>
  <dcterms:created xsi:type="dcterms:W3CDTF">2026-09-30T17:03:49Z</dcterms:created>
  <dcterms:modified xsi:type="dcterms:W3CDTF">2026-10-01T00:26:13Z</dcterms:modified>
</cp:coreProperties>
</file>